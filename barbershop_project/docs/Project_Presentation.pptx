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4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566928" cy="566928"/>
          </a:xfrm>
          <a:prstGeom prst="roundRect">
            <a:avLst>
              <a:gd name="adj" fmla="val 12000"/>
            </a:avLst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5303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214F3C"/>
                </a:solidFill>
                <a:latin typeface="Aptos"/>
              </a:rPr>
              <a:t>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768096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FFFEFA"/>
                </a:solidFill>
                <a:latin typeface="Aptos"/>
              </a:rPr>
              <a:t>Barbershop Booking
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337560"/>
            <a:ext cx="68580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D4EE9D"/>
                </a:solidFill>
                <a:latin typeface="Aptos"/>
              </a:rPr>
              <a:t>Software Design Project · Requirements, system design and local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315968"/>
            <a:ext cx="4480560" cy="22860"/>
          </a:xfrm>
          <a:prstGeom prst="rect">
            <a:avLst/>
          </a:prstGeom>
          <a:solidFill>
            <a:srgbClr val="2F6E52"/>
          </a:solidFill>
          <a:ln>
            <a:solidFill>
              <a:srgbClr val="2F6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52120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E5ECE3"/>
                </a:solidFill>
                <a:latin typeface="Aptos"/>
              </a:rPr>
              <a:t>Project presentation
Working draft · 20 October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1097280"/>
            <a:ext cx="2926080" cy="4480560"/>
          </a:xfrm>
          <a:prstGeom prst="roundRect">
            <a:avLst>
              <a:gd name="adj" fmla="val 12000"/>
            </a:avLst>
          </a:prstGeom>
          <a:solidFill>
            <a:srgbClr val="2C5E45"/>
          </a:solidFill>
          <a:ln>
            <a:solidFill>
              <a:srgbClr val="4B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508760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4EE9D"/>
                </a:solidFill>
                <a:latin typeface="Aptos"/>
              </a:rPr>
              <a:t>THE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65960"/>
            <a:ext cx="219456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FFFEFA"/>
                </a:solidFill>
                <a:latin typeface="Aptos"/>
              </a:rPr>
              <a:t>Your chair.
Your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977639"/>
            <a:ext cx="21488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E5ECE3"/>
                </a:solidFill>
                <a:latin typeface="Aptos"/>
              </a:rPr>
              <a:t>Clear services.
Reliable booking.
Role-based operations.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01 · CONTEXT AND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The problem we are solving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>
                <a:solidFill>
                  <a:srgbClr val="17251F"/>
                </a:solidFill>
                <a:latin typeface="Aptos"/>
              </a:rPr>
              <a:t>Manual or informal booking can make a simple haircut harder to plan.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474720" cy="2057400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7" y="2441448"/>
            <a:ext cx="109728" cy="457200"/>
          </a:xfrm>
          <a:prstGeom prst="rect">
            <a:avLst/>
          </a:prstGeom>
          <a:solidFill>
            <a:srgbClr val="2F6E52"/>
          </a:solidFill>
          <a:ln>
            <a:solidFill>
              <a:srgbClr val="2F6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23160"/>
            <a:ext cx="2834639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Uncertain waiting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898648"/>
            <a:ext cx="2816352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Customers may not know the queue, the expected wait, or the best time to arrive.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240280"/>
            <a:ext cx="3474720" cy="2057400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5" y="2441448"/>
            <a:ext cx="109728" cy="457200"/>
          </a:xfrm>
          <a:prstGeom prst="rect">
            <a:avLst/>
          </a:prstGeom>
          <a:solidFill>
            <a:srgbClr val="C38D35"/>
          </a:solidFill>
          <a:ln>
            <a:solidFill>
              <a:srgbClr val="C3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423160"/>
            <a:ext cx="2834639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Schedule conflicts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98648"/>
            <a:ext cx="2816352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Staff can receive overlapping requests or spend time answering availability questions.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240280"/>
            <a:ext cx="3474720" cy="2057400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2441448"/>
            <a:ext cx="109728" cy="457200"/>
          </a:xfrm>
          <a:prstGeom prst="rect">
            <a:avLst/>
          </a:prstGeom>
          <a:solidFill>
            <a:srgbClr val="667BAF"/>
          </a:solidFill>
          <a:ln>
            <a:solidFill>
              <a:srgbClr val="667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3064" y="2423160"/>
            <a:ext cx="2834639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Limited visibility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2898648"/>
            <a:ext cx="2816352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Customers need to see service prices and barber specialties; owners need a clear operational 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54880"/>
            <a:ext cx="10927080" cy="1024128"/>
          </a:xfrm>
          <a:prstGeom prst="roundRect">
            <a:avLst>
              <a:gd name="adj" fmla="val 12000"/>
            </a:avLst>
          </a:prstGeom>
          <a:solidFill>
            <a:srgbClr val="214F3C"/>
          </a:solidFill>
          <a:ln>
            <a:solidFill>
              <a:srgbClr val="214F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65192"/>
            <a:ext cx="103327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FFFEFA"/>
                </a:solidFill>
                <a:latin typeface="Aptos"/>
              </a:rPr>
              <a:t>Goal: make appointments easier to plan, block overlapping bookings, and keep each role’s information appropriately private.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02 ·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What the first version includes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303520" cy="135331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1801368"/>
            <a:ext cx="109728" cy="457200"/>
          </a:xfrm>
          <a:prstGeom prst="rect">
            <a:avLst/>
          </a:prstGeom>
          <a:solidFill>
            <a:srgbClr val="2F6E52"/>
          </a:solidFill>
          <a:ln>
            <a:solidFill>
              <a:srgbClr val="2F6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783080"/>
            <a:ext cx="46634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Public 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58568"/>
            <a:ext cx="464515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Homepage · service catalogue · senior barber profiles · approved reviews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5303520" cy="135331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801368"/>
            <a:ext cx="109728" cy="457200"/>
          </a:xfrm>
          <a:prstGeom prst="rect">
            <a:avLst/>
          </a:prstGeom>
          <a:solidFill>
            <a:srgbClr val="5885B7"/>
          </a:solidFill>
          <a:ln>
            <a:solidFill>
              <a:srgbClr val="5885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38544" y="1783080"/>
            <a:ext cx="46634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Customer booking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2258568"/>
            <a:ext cx="464515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Registration/login · barber and service choice · availability checks · own booking history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2"/>
            <a:ext cx="5303520" cy="135331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7" y="3383280"/>
            <a:ext cx="109728" cy="457200"/>
          </a:xfrm>
          <a:prstGeom prst="rect">
            <a:avLst/>
          </a:prstGeom>
          <a:solidFill>
            <a:srgbClr val="C29248"/>
          </a:solidFill>
          <a:ln>
            <a:solidFill>
              <a:srgbClr val="C292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364992"/>
            <a:ext cx="46634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Staff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840480"/>
            <a:ext cx="464515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Admin booking management · barber assigned schedules and status updates · earnings estimates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182112"/>
            <a:ext cx="5303520" cy="135331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383280"/>
            <a:ext cx="109728" cy="457200"/>
          </a:xfrm>
          <a:prstGeom prst="rect">
            <a:avLst/>
          </a:prstGeom>
          <a:solidFill>
            <a:srgbClr val="8567B3"/>
          </a:solidFill>
          <a:ln>
            <a:solidFill>
              <a:srgbClr val="8567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8544" y="3364992"/>
            <a:ext cx="46634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Owner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3840480"/>
            <a:ext cx="464515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Staff accounts · services/prices · pay rules · expenses and payroll estimates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920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FF0C2"/>
          </a:solidFill>
          <a:ln>
            <a:solidFill>
              <a:srgbClr val="E6C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06577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17251F"/>
                </a:solidFill>
                <a:latin typeface="Aptos"/>
              </a:rPr>
              <a:t>Deferred: real email/SMS, online payments, password recovery, inventory, and production deployment hardening.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03 · ROLE-BASED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Four roles, four different views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578608" cy="3291840"/>
          </a:xfrm>
          <a:prstGeom prst="roundRect">
            <a:avLst>
              <a:gd name="adj" fmla="val 12000"/>
            </a:avLst>
          </a:prstGeom>
          <a:solidFill>
            <a:srgbClr val="E5EFFC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920240"/>
            <a:ext cx="2194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4E7FB4"/>
                </a:solidFill>
                <a:latin typeface="Aptos"/>
              </a:rPr>
              <a:t>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7251F"/>
                </a:solidFill>
                <a:latin typeface="Aptos"/>
              </a:rPr>
              <a:t>Browse services and barbers
Book, view or cancel own visits
Review completed appointments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91640"/>
            <a:ext cx="2578608" cy="3291840"/>
          </a:xfrm>
          <a:prstGeom prst="roundRect">
            <a:avLst>
              <a:gd name="adj" fmla="val 12000"/>
            </a:avLst>
          </a:prstGeom>
          <a:solidFill>
            <a:srgbClr val="FFF0C2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920240"/>
            <a:ext cx="2194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BC8434"/>
                </a:solidFill>
                <a:latin typeface="Aptos"/>
              </a:rPr>
              <a:t>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7251F"/>
                </a:solidFill>
                <a:latin typeface="Aptos"/>
              </a:rPr>
              <a:t>Manage daily bookings
Support customers and schedules
Moderate reviews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2578608" cy="3291840"/>
          </a:xfrm>
          <a:prstGeom prst="roundRect">
            <a:avLst>
              <a:gd name="adj" fmla="val 12000"/>
            </a:avLst>
          </a:prstGeom>
          <a:solidFill>
            <a:srgbClr val="E8F0E4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2194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F6E52"/>
                </a:solidFill>
                <a:latin typeface="Aptos"/>
              </a:rPr>
              <a:t>BARBER / EMPLOYEE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7251F"/>
                </a:solidFill>
                <a:latin typeface="Aptos"/>
              </a:rPr>
              <a:t>See assigned appointments
Update visit status
See personal day/week/month earnings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691640"/>
            <a:ext cx="2578608" cy="3291840"/>
          </a:xfrm>
          <a:prstGeom prst="roundRect">
            <a:avLst>
              <a:gd name="adj" fmla="val 12000"/>
            </a:avLst>
          </a:prstGeom>
          <a:solidFill>
            <a:srgbClr val="E9E2F7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19" y="1920240"/>
            <a:ext cx="2194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8466B4"/>
                </a:solidFill>
                <a:latin typeface="Aptos"/>
              </a:rPr>
              <a:t>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7251F"/>
                </a:solidFill>
                <a:latin typeface="Aptos"/>
              </a:rPr>
              <a:t>View all bookings and staff
Review revenue, expenses and payroll
Manage services and pay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10927080" cy="640080"/>
          </a:xfrm>
          <a:prstGeom prst="roundRect">
            <a:avLst>
              <a:gd name="adj" fmla="val 12000"/>
            </a:avLst>
          </a:prstGeom>
          <a:solidFill>
            <a:srgbClr val="214F3C"/>
          </a:solidFill>
          <a:ln>
            <a:solidFill>
              <a:srgbClr val="214F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477256"/>
            <a:ext cx="10332720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FFFEFA"/>
                </a:solidFill>
                <a:latin typeface="Aptos"/>
              </a:rPr>
              <a:t>Rule: access is enforced by the server, not only by hiding buttons in the interface.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04 · ENGINEERING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Booking flow has real decision diamonds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bookin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792" y="1417320"/>
            <a:ext cx="3328574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1737360"/>
            <a:ext cx="5486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>
                <a:solidFill>
                  <a:srgbClr val="214F3C"/>
                </a:solidFill>
                <a:latin typeface="Aptos"/>
              </a:rPr>
              <a:t>Core decision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9552" y="2423160"/>
            <a:ext cx="5486400" cy="85039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88152" y="2542032"/>
            <a:ext cx="4983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214F3C"/>
                </a:solidFill>
                <a:latin typeface="Aptos"/>
              </a:rPr>
              <a:t>Customer signed 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88152" y="2852928"/>
            <a:ext cx="4983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Route to login if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3502152"/>
            <a:ext cx="5486400" cy="85039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88152" y="3621024"/>
            <a:ext cx="4983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214F3C"/>
                </a:solidFill>
                <a:latin typeface="Aptos"/>
              </a:rPr>
              <a:t>Inputs valid and within hours?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3931920"/>
            <a:ext cx="4983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Reject invalid or out-of-hours details.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4581144"/>
            <a:ext cx="5486400" cy="850392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88152" y="4700016"/>
            <a:ext cx="4983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214F3C"/>
                </a:solidFill>
                <a:latin typeface="Aptos"/>
              </a:rPr>
              <a:t>Barber available for full duration?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5010912"/>
            <a:ext cx="4983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Reject overlap and ask customer to choose another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580644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F6E52"/>
                </a:solidFill>
                <a:latin typeface="Aptos"/>
              </a:rPr>
              <a:t>Success path: save booking → issue reference → service →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05 · DATA AND APPLICATION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Simple architecture, clear responsibilities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72768"/>
            <a:ext cx="6675120" cy="987552"/>
          </a:xfrm>
          <a:prstGeom prst="roundRect">
            <a:avLst>
              <a:gd name="adj" fmla="val 12000"/>
            </a:avLst>
          </a:prstGeom>
          <a:solidFill>
            <a:srgbClr val="E5EFFC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91640"/>
            <a:ext cx="2057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4F3C"/>
                </a:solidFill>
                <a:latin typeface="Aptos"/>
              </a:rPr>
              <a:t>BROWSER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91640"/>
            <a:ext cx="38404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7251F"/>
                </a:solidFill>
                <a:latin typeface="Aptos"/>
              </a:rPr>
              <a:t>index.html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6217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Public pages, forms, dashboards and client interactions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606039"/>
            <a:ext cx="6400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2F6E52"/>
                </a:solidFill>
                <a:latin typeface="Aptos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26080"/>
            <a:ext cx="6675120" cy="987552"/>
          </a:xfrm>
          <a:prstGeom prst="roundRect">
            <a:avLst>
              <a:gd name="adj" fmla="val 12000"/>
            </a:avLst>
          </a:prstGeom>
          <a:solidFill>
            <a:srgbClr val="E8F0E4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44952"/>
            <a:ext cx="2057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4F3C"/>
                </a:solidFill>
                <a:latin typeface="Aptos"/>
              </a:rPr>
              <a:t>PYTHON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044952"/>
            <a:ext cx="38404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7251F"/>
                </a:solidFill>
                <a:latin typeface="Aptos"/>
              </a:rPr>
              <a:t>app.py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29000"/>
            <a:ext cx="6217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Authentication, role checks, booking validation and JSON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959352"/>
            <a:ext cx="6400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2F6E52"/>
                </a:solidFill>
                <a:latin typeface="Aptos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79392"/>
            <a:ext cx="6675120" cy="987552"/>
          </a:xfrm>
          <a:prstGeom prst="roundRect">
            <a:avLst>
              <a:gd name="adj" fmla="val 12000"/>
            </a:avLst>
          </a:prstGeom>
          <a:solidFill>
            <a:srgbClr val="FFF0C2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398264"/>
            <a:ext cx="2057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4F3C"/>
                </a:solidFill>
                <a:latin typeface="Aptos"/>
              </a:rPr>
              <a:t>SQLITE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398264"/>
            <a:ext cx="38404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7251F"/>
                </a:solidFill>
                <a:latin typeface="Aptos"/>
              </a:rPr>
              <a:t>database_schema.sql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782312"/>
            <a:ext cx="6217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Users, services, barber profiles, appointments, reviews and expenses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72768"/>
            <a:ext cx="3291840" cy="3694176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Data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395728"/>
            <a:ext cx="2743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7251F"/>
                </a:solidFill>
                <a:latin typeface="Aptos"/>
              </a:defRPr>
            </a:pPr>
            <a:r>
              <a:t>•  Unique booking references</a:t>
            </a:r>
          </a:p>
          <a:p>
            <a:pPr>
              <a:spcAft>
                <a:spcPts val="800"/>
              </a:spcAft>
              <a:defRPr sz="1200">
                <a:solidFill>
                  <a:srgbClr val="17251F"/>
                </a:solidFill>
                <a:latin typeface="Aptos"/>
              </a:defRPr>
            </a:pPr>
            <a:r>
              <a:t>•  Foreign keys and role constraints</a:t>
            </a:r>
          </a:p>
          <a:p>
            <a:pPr>
              <a:spcAft>
                <a:spcPts val="800"/>
              </a:spcAft>
              <a:defRPr sz="1200">
                <a:solidFill>
                  <a:srgbClr val="17251F"/>
                </a:solidFill>
                <a:latin typeface="Aptos"/>
              </a:defRPr>
            </a:pPr>
            <a:r>
              <a:t>•  Overlap checks per barber</a:t>
            </a:r>
          </a:p>
          <a:p>
            <a:pPr>
              <a:spcAft>
                <a:spcPts val="800"/>
              </a:spcAft>
              <a:defRPr sz="1200">
                <a:solidFill>
                  <a:srgbClr val="17251F"/>
                </a:solidFill>
                <a:latin typeface="Aptos"/>
              </a:defRPr>
            </a:pPr>
            <a:r>
              <a:t>•  One review per appointment</a:t>
            </a:r>
          </a:p>
          <a:p>
            <a:pPr>
              <a:spcAft>
                <a:spcPts val="800"/>
              </a:spcAft>
              <a:defRPr sz="1200">
                <a:solidFill>
                  <a:srgbClr val="17251F"/>
                </a:solidFill>
                <a:latin typeface="Aptos"/>
              </a:defRPr>
            </a:pPr>
            <a:r>
              <a:t>•  Money stored as integer cents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440680"/>
            <a:ext cx="27432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27067"/>
                </a:solidFill>
                <a:latin typeface="Aptos"/>
              </a:rPr>
              <a:t>SQLite is local demo storage.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06 · LOCAL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What you can demonstrate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698480" cy="749808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82495"/>
            <a:ext cx="19202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4F3C"/>
                </a:solidFill>
                <a:latin typeface="Aptos"/>
              </a:rPr>
              <a:t>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45919"/>
            <a:ext cx="822960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17251F"/>
                </a:solidFill>
                <a:latin typeface="Aptos"/>
              </a:rPr>
              <a:t>Register, sign in, book, view/cancel own bookings, review completed visits.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87168"/>
            <a:ext cx="10698480" cy="749808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60903"/>
            <a:ext cx="19202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4F3C"/>
                </a:solidFill>
                <a:latin typeface="Aptos"/>
              </a:rPr>
              <a:t>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24327"/>
            <a:ext cx="822960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17251F"/>
                </a:solidFill>
                <a:latin typeface="Aptos"/>
              </a:rPr>
              <a:t>View all bookings, move valid appointment statuses, moderate submitted reviews.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65576"/>
            <a:ext cx="10698480" cy="749808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9312"/>
            <a:ext cx="19202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4F3C"/>
                </a:solidFill>
                <a:latin typeface="Aptos"/>
              </a:rPr>
              <a:t>Barber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602736"/>
            <a:ext cx="822960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17251F"/>
                </a:solidFill>
                <a:latin typeface="Aptos"/>
              </a:rPr>
              <a:t>See assigned bookings, update visit status, view personal earnings estimates.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43983"/>
            <a:ext cx="10698480" cy="749808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17720"/>
            <a:ext cx="19202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4F3C"/>
                </a:solidFill>
                <a:latin typeface="Aptos"/>
              </a:rPr>
              <a:t>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4581144"/>
            <a:ext cx="822960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17251F"/>
                </a:solidFill>
                <a:latin typeface="Aptos"/>
              </a:rPr>
              <a:t>View business metrics, manage staff accounts, record expenses, update services/prices and inspect barber earnings.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698480" cy="512064"/>
          </a:xfrm>
          <a:prstGeom prst="roundRect">
            <a:avLst>
              <a:gd name="adj" fmla="val 12000"/>
            </a:avLst>
          </a:prstGeom>
          <a:solidFill>
            <a:srgbClr val="FFF0C2"/>
          </a:solidFill>
          <a:ln>
            <a:solidFill>
              <a:srgbClr val="E6C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15000"/>
            <a:ext cx="10287000" cy="3017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>
                <a:solidFill>
                  <a:srgbClr val="17251F"/>
                </a:solidFill>
                <a:latin typeface="Aptos"/>
              </a:rPr>
              <a:t>Run locally at http://127.0.0.1:8000 after starting python app.py.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F6E52"/>
                </a:solidFill>
                <a:latin typeface="Aptos"/>
              </a:rPr>
              <a:t>07 ·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214F3C"/>
                </a:solidFill>
                <a:latin typeface="Aptos"/>
              </a:rPr>
              <a:t>Smoke tests passed; full QA remains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43584"/>
            <a:ext cx="566928" cy="41148"/>
          </a:xfrm>
          <a:prstGeom prst="rect">
            <a:avLst/>
          </a:prstGeom>
          <a:solidFill>
            <a:srgbClr val="D4EE9D"/>
          </a:solidFill>
          <a:ln>
            <a:solidFill>
              <a:srgbClr val="D4E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627067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29000" cy="1600200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1847088"/>
            <a:ext cx="109728" cy="457200"/>
          </a:xfrm>
          <a:prstGeom prst="rect">
            <a:avLst/>
          </a:prstGeom>
          <a:solidFill>
            <a:srgbClr val="2F6E52"/>
          </a:solidFill>
          <a:ln>
            <a:solidFill>
              <a:srgbClr val="2F6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828800"/>
            <a:ext cx="278892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Booking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304288"/>
            <a:ext cx="277063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Valid booking saved with a reference. An overlapping slot returned HTTP 409.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29000" cy="1600200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0288" y="1847088"/>
            <a:ext cx="109728" cy="457200"/>
          </a:xfrm>
          <a:prstGeom prst="rect">
            <a:avLst/>
          </a:prstGeom>
          <a:solidFill>
            <a:srgbClr val="BE8534"/>
          </a:solidFill>
          <a:ln>
            <a:solidFill>
              <a:srgbClr val="BE8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1" y="1828800"/>
            <a:ext cx="278892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Role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1" y="2304288"/>
            <a:ext cx="277063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Customer could not access payroll; admin could not change services. Both returned HTTP 403.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429000" cy="1600200"/>
          </a:xfrm>
          <a:prstGeom prst="roundRect">
            <a:avLst>
              <a:gd name="adj" fmla="val 12000"/>
            </a:avLst>
          </a:prstGeom>
          <a:solidFill>
            <a:srgbClr val="FFFEFA"/>
          </a:solidFill>
          <a:ln>
            <a:solidFill>
              <a:srgbClr val="DF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847088"/>
            <a:ext cx="109728" cy="457200"/>
          </a:xfrm>
          <a:prstGeom prst="rect">
            <a:avLst/>
          </a:prstGeom>
          <a:solidFill>
            <a:srgbClr val="587FB6"/>
          </a:solidFill>
          <a:ln>
            <a:solidFill>
              <a:srgbClr val="587F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1828800"/>
            <a:ext cx="278892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4F3C"/>
                </a:solidFill>
                <a:latin typeface="Aptos"/>
              </a:rPr>
              <a:t>Service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2304288"/>
            <a:ext cx="277063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27067"/>
                </a:solidFill>
                <a:latin typeface="Aptos"/>
              </a:rPr>
              <a:t>Assigned barber progressed a booking through check-in, in-service, and completed.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86200"/>
            <a:ext cx="2011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4F3C"/>
                </a:solidFill>
                <a:latin typeface="Aptos"/>
              </a:rPr>
              <a:t>Still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34840"/>
            <a:ext cx="1051560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7251F"/>
                </a:solidFill>
                <a:latin typeface="Aptos"/>
              </a:defRPr>
            </a:pPr>
            <a:r>
              <a:t>•  Manual UI checks on desktop and mobile; screenshot evidence.</a:t>
            </a:r>
          </a:p>
          <a:p>
            <a:pPr>
              <a:spcAft>
                <a:spcPts val="700"/>
              </a:spcAft>
              <a:defRPr sz="1300">
                <a:solidFill>
                  <a:srgbClr val="17251F"/>
                </a:solidFill>
                <a:latin typeface="Aptos"/>
              </a:defRPr>
            </a:pPr>
            <a:r>
              <a:t>•  Full endpoint-by-role and edge-case testing.</a:t>
            </a:r>
          </a:p>
          <a:p>
            <a:pPr>
              <a:spcAft>
                <a:spcPts val="700"/>
              </a:spcAft>
              <a:defRPr sz="1300">
                <a:solidFill>
                  <a:srgbClr val="17251F"/>
                </a:solidFill>
                <a:latin typeface="Aptos"/>
              </a:defRPr>
            </a:pPr>
            <a:r>
              <a:t>•  Stakeholder/instructor validation and production security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4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4EE9D"/>
                </a:solidFill>
                <a:latin typeface="Aptos"/>
              </a:rPr>
              <a:t>08 · CLOSEOUT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6984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900" b="1">
                <a:solidFill>
                  <a:srgbClr val="FFFEFA"/>
                </a:solidFill>
                <a:latin typeface="Aptos"/>
              </a:rPr>
              <a:t>What we need to finish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44200" cy="987552"/>
          </a:xfrm>
          <a:prstGeom prst="roundRect">
            <a:avLst>
              <a:gd name="adj" fmla="val 12000"/>
            </a:avLst>
          </a:prstGeom>
          <a:solidFill>
            <a:srgbClr val="2C5E45"/>
          </a:solidFill>
          <a:ln>
            <a:solidFill>
              <a:srgbClr val="4B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9384"/>
            <a:ext cx="54864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D4EE9D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65376"/>
            <a:ext cx="251460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EFA"/>
                </a:solidFill>
                <a:latin typeface="Aptos"/>
              </a:rPr>
              <a:t>Validate the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1874519"/>
            <a:ext cx="690372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E5ECE3"/>
                </a:solidFill>
                <a:latin typeface="Aptos"/>
              </a:rPr>
              <a:t>Confirm opening hours, cancellation policy, appointment approval, and actual barber compensation.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80944"/>
            <a:ext cx="10744200" cy="987552"/>
          </a:xfrm>
          <a:prstGeom prst="roundRect">
            <a:avLst>
              <a:gd name="adj" fmla="val 12000"/>
            </a:avLst>
          </a:prstGeom>
          <a:solidFill>
            <a:srgbClr val="2C5E45"/>
          </a:solidFill>
          <a:ln>
            <a:solidFill>
              <a:srgbClr val="4B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72968"/>
            <a:ext cx="54864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D4EE9D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108960"/>
            <a:ext cx="251460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EFA"/>
                </a:solidFill>
                <a:latin typeface="Aptos"/>
              </a:rPr>
              <a:t>Run the full test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3118103"/>
            <a:ext cx="690372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E5ECE3"/>
                </a:solidFill>
                <a:latin typeface="Aptos"/>
              </a:rPr>
              <a:t>Test each role, capture screenshots, and fix booking, UI, and permission issues.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24528"/>
            <a:ext cx="10744200" cy="987552"/>
          </a:xfrm>
          <a:prstGeom prst="roundRect">
            <a:avLst>
              <a:gd name="adj" fmla="val 12000"/>
            </a:avLst>
          </a:prstGeom>
          <a:solidFill>
            <a:srgbClr val="2C5E45"/>
          </a:solidFill>
          <a:ln>
            <a:solidFill>
              <a:srgbClr val="4B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54864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D4EE9D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52544"/>
            <a:ext cx="251460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EFA"/>
                </a:solidFill>
                <a:latin typeface="Aptos"/>
              </a:rPr>
              <a:t>Finalize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361688"/>
            <a:ext cx="690372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E5ECE3"/>
                </a:solidFill>
                <a:latin typeface="Aptos"/>
              </a:rPr>
              <a:t>Align the report and slides to the tested version and document remaining limitations honestly.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33872"/>
            <a:ext cx="1060704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D4EE9D"/>
                </a:solidFill>
                <a:latin typeface="Aptos"/>
              </a:rPr>
              <a:t>A coherent local prototype is a strong milestone — stakeholder validation and end-to-end QA make it credible.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Barbershop Booking Management System — Project Presentation</dc:title>
  <dc:subject>Software design project overview, roles, workflow, data design and testing</dc:subject>
  <dc:creator>Project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