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252D25"/>
          </a:solidFill>
          <a:ln>
            <a:solidFill>
              <a:srgbClr val="252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051560"/>
            <a:ext cx="2468880" cy="2834640"/>
          </a:xfrm>
          <a:prstGeom prst="roundRect">
            <a:avLst>
              <a:gd name="adj" fmla="val 9000"/>
            </a:avLst>
          </a:prstGeom>
          <a:solidFill>
            <a:srgbClr val="DCE4D6"/>
          </a:solidFill>
          <a:ln>
            <a:solidFill>
              <a:srgbClr val="DC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08592" y="1417320"/>
            <a:ext cx="1353312" cy="2148840"/>
          </a:xfrm>
          <a:prstGeom prst="roundRect">
            <a:avLst>
              <a:gd name="adj" fmla="val 9000"/>
            </a:avLst>
          </a:prstGeom>
          <a:solidFill>
            <a:srgbClr val="7B8D75"/>
          </a:solidFill>
          <a:ln>
            <a:solidFill>
              <a:srgbClr val="536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20072" y="1865376"/>
            <a:ext cx="530352" cy="530352"/>
          </a:xfrm>
          <a:prstGeom prst="roundRect">
            <a:avLst>
              <a:gd name="adj" fmla="val 9000"/>
            </a:avLst>
          </a:prstGeom>
          <a:solidFill>
            <a:srgbClr val="D8AA88"/>
          </a:solidFill>
          <a:ln>
            <a:solidFill>
              <a:srgbClr val="D8A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7464" y="2331720"/>
            <a:ext cx="1115568" cy="1207008"/>
          </a:xfrm>
          <a:prstGeom prst="roundRect">
            <a:avLst>
              <a:gd name="adj" fmla="val 9000"/>
            </a:avLst>
          </a:prstGeom>
          <a:solidFill>
            <a:srgbClr val="475748"/>
          </a:solidFill>
          <a:ln>
            <a:solidFill>
              <a:srgbClr val="475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89720" y="4160520"/>
            <a:ext cx="1783080" cy="237744"/>
          </a:xfrm>
          <a:prstGeom prst="roundRect">
            <a:avLst>
              <a:gd name="adj" fmla="val 9000"/>
            </a:avLst>
          </a:prstGeom>
          <a:solidFill>
            <a:srgbClr val="3F493D"/>
          </a:solidFill>
          <a:ln>
            <a:solidFill>
              <a:srgbClr val="3F4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70848" y="3794760"/>
            <a:ext cx="1965960" cy="475488"/>
          </a:xfrm>
          <a:prstGeom prst="roundRect">
            <a:avLst>
              <a:gd name="adj" fmla="val 9000"/>
            </a:avLst>
          </a:prstGeom>
          <a:solidFill>
            <a:srgbClr val="303A30"/>
          </a:solidFill>
          <a:ln>
            <a:solidFill>
              <a:srgbClr val="30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3081528"/>
            <a:ext cx="1280160" cy="749808"/>
          </a:xfrm>
          <a:prstGeom prst="roundRect">
            <a:avLst>
              <a:gd name="adj" fmla="val 9000"/>
            </a:avLst>
          </a:prstGeom>
          <a:solidFill>
            <a:srgbClr val="303A30"/>
          </a:solidFill>
          <a:ln>
            <a:solidFill>
              <a:srgbClr val="30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31520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AA58"/>
                </a:solidFill>
                <a:latin typeface="Aptos"/>
              </a:rPr>
              <a:t>SOFTWARE DESIGN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6675120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5F2EB"/>
                </a:solidFill>
                <a:latin typeface="Aptos Display"/>
              </a:rPr>
              <a:t>BARBERSHOP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5F2EB"/>
                </a:solidFill>
                <a:latin typeface="Aptos Display"/>
              </a:rPr>
              <a:t>BOOKING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5F2EB"/>
                </a:solidFill>
                <a:latin typeface="Aptos Display"/>
              </a:rPr>
              <a:t>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06240"/>
            <a:ext cx="6126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0D5"/>
                </a:solidFill>
                <a:latin typeface="Aptos"/>
              </a:rPr>
              <a:t>Plain HTML, CSS, JavaScript +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91456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C0B5"/>
                </a:solidFill>
                <a:latin typeface="Aptos"/>
              </a:rPr>
              <a:t>Project scope • system design • roles • booking workflow • deployment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897880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8C0B5"/>
                </a:solidFill>
                <a:latin typeface="Aptos"/>
              </a:rPr>
              <a:t>Prepared for group review — update group details before presenting.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01 / PROJECT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Less waiting. Clearer booking.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The project is designed to make the booking process easier to follow for customers and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3429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64008" cy="3429000"/>
          </a:xfrm>
          <a:prstGeom prst="rect">
            <a:avLst/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2199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AA58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1460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Walk-in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90088"/>
            <a:ext cx="3072384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Customers may not know how long the queue will take. Manual records can also lead to missed or overlapping appointments.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57400"/>
            <a:ext cx="3474720" cy="3429000"/>
          </a:xfrm>
          <a:prstGeom prst="roundRect">
            <a:avLst>
              <a:gd name="adj" fmla="val 9000"/>
            </a:avLst>
          </a:prstGeom>
          <a:solidFill>
            <a:srgbClr val="E9EEE4"/>
          </a:solidFill>
          <a:ln>
            <a:solidFill>
              <a:srgbClr val="E9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2057400"/>
            <a:ext cx="64008" cy="3429000"/>
          </a:xfrm>
          <a:prstGeom prst="rect">
            <a:avLst/>
          </a:prstGeom>
          <a:solidFill>
            <a:srgbClr val="5B6A54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222199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6A54"/>
                </a:solidFill>
                <a:latin typeface="Aptos"/>
              </a:rP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51460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One shared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990088"/>
            <a:ext cx="3072384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Customers choose an available time before arriving. Staff work from the same appointment records instead of separate lists.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57400"/>
            <a:ext cx="3474720" cy="3429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057400"/>
            <a:ext cx="64008" cy="3429000"/>
          </a:xfrm>
          <a:prstGeom prst="rect">
            <a:avLst/>
          </a:prstGeom>
          <a:solidFill>
            <a:srgbClr val="537AA8"/>
          </a:solidFill>
          <a:ln>
            <a:solidFill>
              <a:srgbClr val="53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22199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37AA8"/>
                </a:solidFill>
                <a:latin typeface="Aptos"/>
              </a:rPr>
              <a:t>PROJECT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1460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A simple first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990088"/>
            <a:ext cx="3072384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Publish a responsive website and use Supabase for accounts, saved bookings, permissions, and business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87168"/>
                </a:solidFill>
                <a:latin typeface="Aptos"/>
              </a:rPr>
              <a:t>Note: these are the project’s problem statements, not survey statistics. Add real stakeholder evidence if your instructor requires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02 / WHAT THE SYSTEM INCLUDES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Small frontend. Shared online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The static site can be published on GitHub Pages. Supabase provides authentication and the shared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74720" cy="34747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64008" cy="3474720"/>
          </a:xfrm>
          <a:prstGeom prst="rect">
            <a:avLst/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AA58"/>
                </a:solidFill>
                <a:latin typeface="Aptos"/>
              </a:rPr>
              <a:t>PUBLIC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2316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What visitors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98648"/>
            <a:ext cx="3072384" cy="24505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Homepage, services and prices, barber profiles, approved reviews, customer registration, and a booking entry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65960"/>
            <a:ext cx="3474720" cy="3474720"/>
          </a:xfrm>
          <a:prstGeom prst="roundRect">
            <a:avLst>
              <a:gd name="adj" fmla="val 9000"/>
            </a:avLst>
          </a:prstGeom>
          <a:solidFill>
            <a:srgbClr val="E9EEE4"/>
          </a:solidFill>
          <a:ln>
            <a:solidFill>
              <a:srgbClr val="E9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965960"/>
            <a:ext cx="64008" cy="3474720"/>
          </a:xfrm>
          <a:prstGeom prst="rect">
            <a:avLst/>
          </a:prstGeom>
          <a:solidFill>
            <a:srgbClr val="5B6A54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21305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6A54"/>
                </a:solidFill>
                <a:latin typeface="Aptos"/>
              </a:rPr>
              <a:t>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42316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Where records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898648"/>
            <a:ext cx="3072384" cy="24505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User accounts, role profiles, services, barber hours, appointments, reviews, pay settings, and expenses.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3474720" cy="34747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965960"/>
            <a:ext cx="64008" cy="3474720"/>
          </a:xfrm>
          <a:prstGeom prst="rect">
            <a:avLst/>
          </a:prstGeom>
          <a:solidFill>
            <a:srgbClr val="537AA8"/>
          </a:solidFill>
          <a:ln>
            <a:solidFill>
              <a:srgbClr val="53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1305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37AA8"/>
                </a:solidFill>
                <a:latin typeface="Aptos"/>
              </a:rPr>
              <a:t>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23160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Where the site lives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98648"/>
            <a:ext cx="3072384" cy="24505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Serves HTML, CSS, and JavaScript over HTTPS. No Python server or build step is needed for the frontend.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15000"/>
            <a:ext cx="10917936" cy="438912"/>
          </a:xfrm>
          <a:prstGeom prst="roundRect">
            <a:avLst>
              <a:gd name="adj" fmla="val 9000"/>
            </a:avLst>
          </a:prstGeom>
          <a:solidFill>
            <a:srgbClr val="FFF0C4"/>
          </a:solidFill>
          <a:ln>
            <a:solidFill>
              <a:srgbClr val="E5C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815584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5424"/>
                </a:solidFill>
                <a:latin typeface="Aptos"/>
              </a:rPr>
              <a:t>Required before live use: run the SQL schema, add the Supabase URL + public key, set Auth redirects, and test all four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AA58"/>
                </a:solidFill>
                <a:latin typeface="Aptos"/>
              </a:rPr>
              <a:t>03 /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B"/>
                </a:solidFill>
                <a:latin typeface="Aptos Display"/>
              </a:rPr>
              <a:t>Each role sees what it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DC1"/>
                </a:solidFill>
                <a:latin typeface="Aptos"/>
              </a:rPr>
              <a:t>The database checks permissions too; hiding a button is not enough.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57800" cy="1572768"/>
          </a:xfrm>
          <a:prstGeom prst="roundRect">
            <a:avLst>
              <a:gd name="adj" fmla="val 9000"/>
            </a:avLst>
          </a:prstGeom>
          <a:solidFill>
            <a:srgbClr val="252D25"/>
          </a:solidFill>
          <a:ln>
            <a:solidFill>
              <a:srgbClr val="39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64008" cy="1572768"/>
          </a:xfrm>
          <a:prstGeom prst="rect">
            <a:avLst/>
          </a:prstGeom>
          <a:solidFill>
            <a:srgbClr val="537AA8"/>
          </a:solidFill>
          <a:ln>
            <a:solidFill>
              <a:srgbClr val="53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4800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37AA8"/>
                </a:solidFill>
                <a:latin typeface="Aptos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4800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B"/>
                </a:solidFill>
                <a:latin typeface="Aptos Display"/>
              </a:rPr>
              <a:t>Book and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52344"/>
            <a:ext cx="4800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View the service menu, book and manage own appointments, check history, and review completed visits.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920240"/>
            <a:ext cx="5257800" cy="1572768"/>
          </a:xfrm>
          <a:prstGeom prst="roundRect">
            <a:avLst>
              <a:gd name="adj" fmla="val 9000"/>
            </a:avLst>
          </a:prstGeom>
          <a:solidFill>
            <a:srgbClr val="252D25"/>
          </a:solidFill>
          <a:ln>
            <a:solidFill>
              <a:srgbClr val="39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920240"/>
            <a:ext cx="64008" cy="1572768"/>
          </a:xfrm>
          <a:prstGeom prst="rect">
            <a:avLst/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84832"/>
            <a:ext cx="4800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AA58"/>
                </a:solidFill>
                <a:latin typeface="Aptos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59152"/>
            <a:ext cx="4800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B"/>
                </a:solidFill>
                <a:latin typeface="Aptos Display"/>
              </a:rPr>
              <a:t>Daily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752344"/>
            <a:ext cx="4800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Manage bookings and barber availability, help customers, and moderate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257800" cy="1572768"/>
          </a:xfrm>
          <a:prstGeom prst="roundRect">
            <a:avLst>
              <a:gd name="adj" fmla="val 9000"/>
            </a:avLst>
          </a:prstGeom>
          <a:solidFill>
            <a:srgbClr val="252D25"/>
          </a:solidFill>
          <a:ln>
            <a:solidFill>
              <a:srgbClr val="39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64008" cy="1572768"/>
          </a:xfrm>
          <a:prstGeom prst="rect">
            <a:avLst/>
          </a:prstGeom>
          <a:solidFill>
            <a:srgbClr val="5B6A54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4800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6A54"/>
                </a:solidFill>
                <a:latin typeface="Aptos"/>
              </a:rPr>
              <a:t>BARBER / EMPLOYEE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33672"/>
            <a:ext cx="4800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B"/>
                </a:solidFill>
                <a:latin typeface="Aptos Display"/>
              </a:rPr>
              <a:t>Assigned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26864"/>
            <a:ext cx="4800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View assigned appointments, update work status, and see own daily, weekly, and monthly earnings estimates.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794760"/>
            <a:ext cx="5257800" cy="1572768"/>
          </a:xfrm>
          <a:prstGeom prst="roundRect">
            <a:avLst>
              <a:gd name="adj" fmla="val 9000"/>
            </a:avLst>
          </a:prstGeom>
          <a:solidFill>
            <a:srgbClr val="252D25"/>
          </a:solidFill>
          <a:ln>
            <a:solidFill>
              <a:srgbClr val="39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3794760"/>
            <a:ext cx="64008" cy="1572768"/>
          </a:xfrm>
          <a:prstGeom prst="rect">
            <a:avLst/>
          </a:prstGeom>
          <a:solidFill>
            <a:srgbClr val="6E9C7A"/>
          </a:solidFill>
          <a:ln>
            <a:solidFill>
              <a:srgbClr val="6E9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959352"/>
            <a:ext cx="4800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9C7A"/>
                </a:solidFill>
                <a:latin typeface="Aptos"/>
              </a:rPr>
              <a:t>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233672"/>
            <a:ext cx="4800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B"/>
                </a:solidFill>
                <a:latin typeface="Aptos Display"/>
              </a:rPr>
              <a:t>Whole 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626864"/>
            <a:ext cx="4800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Manage services and staff roles, set pay rules, record expenses, and review revenue and payroll estimates.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04 / ENGINEERING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How a booking moves through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The full aligned flowchart is included in diagrams/booking_flow.png and .svg.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2057400"/>
            <a:ext cx="749808" cy="603504"/>
          </a:xfrm>
          <a:prstGeom prst="ellipse">
            <a:avLst/>
          </a:prstGeom>
          <a:solidFill>
            <a:srgbClr val="DCEFE3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2258568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1D19"/>
                </a:solidFill>
                <a:latin typeface="Aptos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1984248"/>
            <a:ext cx="1243584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2103120"/>
            <a:ext cx="1152144" cy="6126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Homepage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84248"/>
            <a:ext cx="14173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2103120"/>
            <a:ext cx="1325880" cy="6126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Choose service,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barber, date</a:t>
            </a:r>
          </a:p>
        </p:txBody>
      </p:sp>
      <p:sp>
        <p:nvSpPr>
          <p:cNvPr id="11" name="Diamond 10"/>
          <p:cNvSpPr/>
          <p:nvPr/>
        </p:nvSpPr>
        <p:spPr>
          <a:xfrm>
            <a:off x="4434840" y="1938528"/>
            <a:ext cx="1353312" cy="841248"/>
          </a:xfrm>
          <a:prstGeom prst="diamond">
            <a:avLst/>
          </a:prstGeom>
          <a:solidFill>
            <a:srgbClr val="FFF0C4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57400"/>
            <a:ext cx="1261872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signed in?</a:t>
            </a:r>
          </a:p>
        </p:txBody>
      </p:sp>
      <p:sp>
        <p:nvSpPr>
          <p:cNvPr id="13" name="Diamond 12"/>
          <p:cNvSpPr/>
          <p:nvPr/>
        </p:nvSpPr>
        <p:spPr>
          <a:xfrm>
            <a:off x="6016752" y="1938528"/>
            <a:ext cx="1481328" cy="841248"/>
          </a:xfrm>
          <a:prstGeom prst="diamond">
            <a:avLst/>
          </a:prstGeom>
          <a:solidFill>
            <a:srgbClr val="FFF0C4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2057400"/>
            <a:ext cx="1389888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Slot available?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984248"/>
            <a:ext cx="1481328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2" y="2103120"/>
            <a:ext cx="1389888" cy="6126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Save booking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in database</a:t>
            </a:r>
          </a:p>
        </p:txBody>
      </p:sp>
      <p:sp>
        <p:nvSpPr>
          <p:cNvPr id="17" name="Oval 16"/>
          <p:cNvSpPr/>
          <p:nvPr/>
        </p:nvSpPr>
        <p:spPr>
          <a:xfrm>
            <a:off x="9482328" y="2057400"/>
            <a:ext cx="1307592" cy="603504"/>
          </a:xfrm>
          <a:prstGeom prst="ellipse">
            <a:avLst/>
          </a:prstGeom>
          <a:solidFill>
            <a:srgbClr val="DCEFE3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176272"/>
            <a:ext cx="1216151" cy="4663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Confirmed</a:t>
            </a:r>
          </a:p>
        </p:txBody>
      </p:sp>
      <p:sp>
        <p:nvSpPr>
          <p:cNvPr id="19" name="Oval 18"/>
          <p:cNvSpPr/>
          <p:nvPr/>
        </p:nvSpPr>
        <p:spPr>
          <a:xfrm>
            <a:off x="11000232" y="2057400"/>
            <a:ext cx="777240" cy="603504"/>
          </a:xfrm>
          <a:prstGeom prst="ellipse">
            <a:avLst/>
          </a:prstGeom>
          <a:solidFill>
            <a:srgbClr val="DCEFE3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2176272"/>
            <a:ext cx="685800" cy="4663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3856" y="2359152"/>
            <a:ext cx="219456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96896" y="2359152"/>
            <a:ext cx="192024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06240" y="2359152"/>
            <a:ext cx="228600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88152" y="2359152"/>
            <a:ext cx="228600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2359152"/>
            <a:ext cx="256033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2359152"/>
            <a:ext cx="246888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789920" y="2359152"/>
            <a:ext cx="210312" cy="0"/>
          </a:xfrm>
          <a:prstGeom prst="line">
            <a:avLst/>
          </a:prstGeom>
          <a:ln w="17780">
            <a:solidFill>
              <a:srgbClr val="5B6A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02352" y="2779776"/>
            <a:ext cx="0" cy="877824"/>
          </a:xfrm>
          <a:prstGeom prst="line">
            <a:avLst/>
          </a:prstGeom>
          <a:ln w="16510">
            <a:solidFill>
              <a:srgbClr val="B95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12080" y="3090672"/>
            <a:ext cx="365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5045"/>
                </a:solidFill>
                <a:latin typeface="Aptos"/>
              </a:rPr>
              <a:t>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657600"/>
            <a:ext cx="1737360" cy="640080"/>
          </a:xfrm>
          <a:prstGeom prst="roundRect">
            <a:avLst>
              <a:gd name="adj" fmla="val 9000"/>
            </a:avLst>
          </a:prstGeom>
          <a:solidFill>
            <a:srgbClr val="F8E4E0"/>
          </a:solidFill>
          <a:ln>
            <a:solidFill>
              <a:srgbClr val="B95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840480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5045"/>
                </a:solidFill>
                <a:latin typeface="Aptos"/>
              </a:rPr>
              <a:t>Sign in / register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48272" y="2779776"/>
            <a:ext cx="0" cy="877824"/>
          </a:xfrm>
          <a:prstGeom prst="line">
            <a:avLst/>
          </a:prstGeom>
          <a:ln w="16510">
            <a:solidFill>
              <a:srgbClr val="B95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3090672"/>
            <a:ext cx="365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5045"/>
                </a:solidFill>
                <a:latin typeface="Aptos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657600"/>
            <a:ext cx="1828800" cy="640080"/>
          </a:xfrm>
          <a:prstGeom prst="roundRect">
            <a:avLst>
              <a:gd name="adj" fmla="val 9000"/>
            </a:avLst>
          </a:prstGeom>
          <a:solidFill>
            <a:srgbClr val="F8E4E0"/>
          </a:solidFill>
          <a:ln>
            <a:solidFill>
              <a:srgbClr val="B95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84048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5045"/>
                </a:solidFill>
                <a:latin typeface="Aptos"/>
              </a:rPr>
              <a:t>Show other times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0060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E9EEE4"/>
          </a:solidFill>
          <a:ln>
            <a:solidFill>
              <a:srgbClr val="E9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01768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A54"/>
                </a:solidFill>
                <a:latin typeface="Aptos"/>
              </a:rPr>
              <a:t>Database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4937760"/>
            <a:ext cx="89611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The service price and duration come from saved data. The availability function checks working hours, breaks, and existing bookings. A PostgreSQL overlap constraint protects against two customers taking the same barber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05 /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The main records and how they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The SQL schema is in supabase/schema.sql.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377440" cy="86868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93976"/>
            <a:ext cx="21579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04872"/>
            <a:ext cx="21579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Account name, email,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65960"/>
            <a:ext cx="2377440" cy="86868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2093976"/>
            <a:ext cx="21579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404872"/>
            <a:ext cx="21579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Price and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65960"/>
            <a:ext cx="2377440" cy="86868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093976"/>
            <a:ext cx="21579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BARBERS +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404872"/>
            <a:ext cx="21579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Staff profile and work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965960"/>
            <a:ext cx="2560320" cy="86868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2093976"/>
            <a:ext cx="234086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PAY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2404872"/>
            <a:ext cx="234086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Salary and commission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70332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1408" y="3831335"/>
            <a:ext cx="22037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APPOINTMENTS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4142231"/>
            <a:ext cx="22037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Customer + service + barber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370332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3831335"/>
            <a:ext cx="22037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4142231"/>
            <a:ext cx="22037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Completed visit + rating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0332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D8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3831335"/>
            <a:ext cx="22037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EXPENSES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4142231"/>
            <a:ext cx="22037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91D19"/>
                </a:solidFill>
                <a:latin typeface="Aptos"/>
              </a:rPr>
              <a:t>Owner-recorded costs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91D19"/>
          </a:solidFill>
          <a:ln>
            <a:solidFill>
              <a:srgbClr val="191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66360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8AA58"/>
                </a:solidFill>
                <a:latin typeface="Aptos"/>
              </a:rPr>
              <a:t>Relationships and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02352"/>
            <a:ext cx="8458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2EB"/>
                </a:solidFill>
                <a:latin typeface="Aptos"/>
              </a:rPr>
              <a:t>Appointments link customers, services, and barbers. Reviews belong to completed appointments. Pay settings link to barbers. Expenses belong to the owner. RLS limits each role’s access to these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06 / EDITING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Change one place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Comments at the top of the files point to the common edits.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D19"/>
                </a:solidFill>
                <a:latin typeface="Aptos"/>
              </a:rPr>
              <a:t>Page wording and shop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38528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A54"/>
                </a:solidFill>
                <a:latin typeface="Aptos"/>
              </a:rP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911095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168"/>
                </a:solidFill>
                <a:latin typeface="Aptos"/>
              </a:rPr>
              <a:t>Search the visible wording and update the header and footer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78608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88336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D19"/>
                </a:solidFill>
                <a:latin typeface="Aptos"/>
              </a:rPr>
              <a:t>Colors and spacing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88336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A54"/>
                </a:solidFill>
                <a:latin typeface="Aptos"/>
              </a:rPr>
              <a:t>css/styles.css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660903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168"/>
                </a:solidFill>
                <a:latin typeface="Aptos"/>
              </a:rPr>
              <a:t>Start with the variables in :root. Refresh the browser to check the contrast.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28415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438144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D19"/>
                </a:solidFill>
                <a:latin typeface="Aptos"/>
              </a:rPr>
              <a:t>Supabase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438144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A54"/>
                </a:solidFill>
                <a:latin typeface="Aptos"/>
              </a:rPr>
              <a:t>js/config.js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410711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168"/>
                </a:solidFill>
                <a:latin typeface="Aptos"/>
              </a:rPr>
              <a:t>Paste Project URL + publishable/anon key. Never use service_role in browser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78224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187952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D19"/>
                </a:solidFill>
                <a:latin typeface="Aptos"/>
              </a:rPr>
              <a:t>Sample preview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87952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A54"/>
                </a:solidFill>
                <a:latin typeface="Aptos"/>
              </a:rPr>
              <a:t>js/app.js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160520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168"/>
                </a:solidFill>
                <a:latin typeface="Aptos"/>
              </a:rPr>
              <a:t>DEMO_SERVICES and DEMO_BARBERS only affect preview mode.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28031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37759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D19"/>
                </a:solidFill>
                <a:latin typeface="Aptos"/>
              </a:rPr>
              <a:t>Booking rules and 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937759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A54"/>
                </a:solidFill>
                <a:latin typeface="Aptos"/>
              </a:rPr>
              <a:t>supabase/schema.sql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910327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168"/>
                </a:solidFill>
                <a:latin typeface="Aptos"/>
              </a:rPr>
              <a:t>Change the functions and RLS policies, then update diagrams and tests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A54"/>
                </a:solidFill>
                <a:latin typeface="Aptos"/>
              </a:rPr>
              <a:t>07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91D19"/>
                </a:solidFill>
                <a:latin typeface="Aptos Display"/>
              </a:rPr>
              <a:t>Static checks pass. Live integration still needs your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168"/>
                </a:solidFill>
                <a:latin typeface="Aptos"/>
              </a:rPr>
              <a:t>Do not claim the online booking path is tested until it runs against your own Supabase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834640" cy="2834640"/>
          </a:xfrm>
          <a:prstGeom prst="roundRect">
            <a:avLst>
              <a:gd name="adj" fmla="val 9000"/>
            </a:avLst>
          </a:prstGeom>
          <a:solidFill>
            <a:srgbClr val="191D19"/>
          </a:solidFill>
          <a:ln>
            <a:solidFill>
              <a:srgbClr val="191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5F2EB"/>
                </a:solidFill>
                <a:latin typeface="Aptos Display"/>
              </a:rPr>
              <a:t>21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86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AA58"/>
                </a:solidFill>
                <a:latin typeface="Aptos"/>
              </a:rPr>
              <a:t>static package checks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22860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CDC1"/>
                </a:solidFill>
                <a:latin typeface="Aptos"/>
              </a:rPr>
              <a:t>Checks include required files, HTML references, JavaScript syntax, SQL functions, and RLS markers.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74519"/>
            <a:ext cx="3566160" cy="283464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874519"/>
            <a:ext cx="64008" cy="2834640"/>
          </a:xfrm>
          <a:prstGeom prst="rect">
            <a:avLst/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039112"/>
            <a:ext cx="31638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AA58"/>
                </a:solidFill>
                <a:latin typeface="Aptos"/>
              </a:rPr>
              <a:t>STILL TO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331720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Supabase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2807208"/>
            <a:ext cx="3163824" cy="1810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Run the SQL schema, configure the project URL and public key, and make sure email redirects return to GitHub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1874519"/>
            <a:ext cx="3886200" cy="2834640"/>
          </a:xfrm>
          <a:prstGeom prst="roundRect">
            <a:avLst>
              <a:gd name="adj" fmla="val 9000"/>
            </a:avLst>
          </a:prstGeom>
          <a:solidFill>
            <a:srgbClr val="E9EEE4"/>
          </a:solidFill>
          <a:ln>
            <a:solidFill>
              <a:srgbClr val="E9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874519"/>
            <a:ext cx="64008" cy="2834640"/>
          </a:xfrm>
          <a:prstGeom prst="rect">
            <a:avLst/>
          </a:prstGeom>
          <a:solidFill>
            <a:srgbClr val="5B6A54"/>
          </a:solidFill>
          <a:ln>
            <a:solidFill>
              <a:srgbClr val="5B6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039112"/>
            <a:ext cx="3483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6A54"/>
                </a:solidFill>
                <a:latin typeface="Aptos"/>
              </a:rPr>
              <a:t>STILL TO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331720"/>
            <a:ext cx="348386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D19"/>
                </a:solidFill>
                <a:latin typeface="Aptos Display"/>
              </a:rPr>
              <a:t>End-to-end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07208"/>
            <a:ext cx="3483864" cy="1810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68"/>
                </a:solidFill>
                <a:latin typeface="Aptos"/>
              </a:rPr>
              <a:t>Try customer booking, double-book prevention, each role’s permissions, schedule editing, review approval, and earnings.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10927080" cy="612648"/>
          </a:xfrm>
          <a:prstGeom prst="roundRect">
            <a:avLst>
              <a:gd name="adj" fmla="val 9000"/>
            </a:avLst>
          </a:prstGeom>
          <a:solidFill>
            <a:srgbClr val="FFF0C4"/>
          </a:solidFill>
          <a:ln>
            <a:solidFill>
              <a:srgbClr val="E5C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10469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5424"/>
                </a:solidFill>
                <a:latin typeface="Aptos"/>
              </a:rPr>
              <a:t>The current files are prepared for testing; live Supabase results are not claimed as passed.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16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AA58"/>
                </a:solidFill>
                <a:latin typeface="Aptos"/>
              </a:rPr>
              <a:t>08 /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B"/>
                </a:solidFill>
                <a:latin typeface="Aptos Display"/>
              </a:rPr>
              <a:t>Publish the static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DC1"/>
                </a:solidFill>
                <a:latin typeface="Aptos"/>
              </a:rPr>
              <a:t>The files are ready to add to the root of your existing GitHub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30352" cy="475488"/>
          </a:xfrm>
          <a:prstGeom prst="roundRect">
            <a:avLst>
              <a:gd name="adj" fmla="val 9000"/>
            </a:avLst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47672"/>
            <a:ext cx="4206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19656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2EB"/>
                </a:solidFill>
                <a:latin typeface="Aptos"/>
              </a:rPr>
              <a:t>Run the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777240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Create Supabase project → SQL Editor → run supabase/schema.sql.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15184"/>
            <a:ext cx="530352" cy="475488"/>
          </a:xfrm>
          <a:prstGeom prst="roundRect">
            <a:avLst>
              <a:gd name="adj" fmla="val 9000"/>
            </a:avLst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34056"/>
            <a:ext cx="4206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0604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2EB"/>
                </a:solidFill>
                <a:latin typeface="Aptos"/>
              </a:rPr>
              <a:t>Add the public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96896"/>
            <a:ext cx="777240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Paste the Supabase Project URL and publishable/anon key into js/config.js.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01568"/>
            <a:ext cx="530352" cy="475488"/>
          </a:xfrm>
          <a:prstGeom prst="roundRect">
            <a:avLst>
              <a:gd name="adj" fmla="val 9000"/>
            </a:avLst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20439"/>
            <a:ext cx="4206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92424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2EB"/>
                </a:solidFill>
                <a:latin typeface="Aptos"/>
              </a:rPr>
              <a:t>Push the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79"/>
            <a:ext cx="777240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Put index.html and css/js/supabase folders in the repository root, then commit and push.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87952"/>
            <a:ext cx="530352" cy="475488"/>
          </a:xfrm>
          <a:prstGeom prst="roundRect">
            <a:avLst>
              <a:gd name="adj" fmla="val 9000"/>
            </a:avLst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06824"/>
            <a:ext cx="4206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78808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2EB"/>
                </a:solidFill>
                <a:latin typeface="Aptos"/>
              </a:rPr>
              <a:t>Enable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69664"/>
            <a:ext cx="777240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GitHub Settings → Pages → main branch → /(root). Add that URL to Supabase Auth redirects.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74336"/>
            <a:ext cx="530352" cy="475488"/>
          </a:xfrm>
          <a:prstGeom prst="roundRect">
            <a:avLst>
              <a:gd name="adj" fmla="val 9000"/>
            </a:avLst>
          </a:prstGeom>
          <a:solidFill>
            <a:srgbClr val="D8AA58"/>
          </a:solidFill>
          <a:ln>
            <a:solidFill>
              <a:srgbClr val="D8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093207"/>
            <a:ext cx="4206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D19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65192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2EB"/>
                </a:solidFill>
                <a:latin typeface="Aptos"/>
              </a:rPr>
              <a:t>Test each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56048"/>
            <a:ext cx="777240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DC1"/>
                </a:solidFill>
                <a:latin typeface="Aptos"/>
              </a:rPr>
              <a:t>Register Customer, Admin, Barber, and Owner accounts and record real test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35040"/>
            <a:ext cx="10835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AA58"/>
                </a:solidFill>
                <a:latin typeface="Aptos"/>
              </a:rPr>
              <a:t>Expected Pages address: https://mraaligato-bit.github.io/barbershop-booking-management-system/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37960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BARBERSHOP BOOKING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C0B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